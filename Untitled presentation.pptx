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0b8c60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a0b8c60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0b8c601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a0b8c601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Assignment-2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Tanushree RP Yadav</a:t>
            </a:r>
            <a:br>
              <a:rPr lang="en"/>
            </a:br>
            <a:r>
              <a:rPr lang="en"/>
              <a:t>23380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Methodology and Architecture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Objective:</a:t>
            </a:r>
            <a:r>
              <a:rPr lang="en" sz="1100">
                <a:solidFill>
                  <a:schemeClr val="dk1"/>
                </a:solidFill>
              </a:rPr>
              <a:t> Investigating OOD generalization across four architectures (VGG16, ResNet18, ConvNeXt Tiny, and ViT_B_16) under synthetic covariate shift.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Experimental Framework 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Exp 1 (Baseline):</a:t>
            </a:r>
            <a:r>
              <a:rPr lang="en" sz="1100">
                <a:solidFill>
                  <a:schemeClr val="dk1"/>
                </a:solidFill>
              </a:rPr>
              <a:t> Standard Empirical Risk Minimization on clean data.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Exp 2 (Corrupted Val):</a:t>
            </a:r>
            <a:r>
              <a:rPr lang="en" sz="1100">
                <a:solidFill>
                  <a:schemeClr val="dk1"/>
                </a:solidFill>
              </a:rPr>
              <a:t> Validation manifold shifted using 15 standard algorithm corruptions ($S=2$).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Exp 3 (Optimized Val):</a:t>
            </a:r>
            <a:r>
              <a:rPr lang="en" sz="1100">
                <a:solidFill>
                  <a:schemeClr val="dk1"/>
                </a:solidFill>
              </a:rPr>
              <a:t> Selective corruption subset to balance robustness and clean accuracy.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Exp 4 (Feature Perturbation):</a:t>
            </a:r>
            <a:r>
              <a:rPr lang="en" sz="1100">
                <a:solidFill>
                  <a:schemeClr val="dk1"/>
                </a:solidFill>
              </a:rPr>
              <a:t> Injecting stochastic noise $z \sim \mathcal{N}(0, \sigma^{2}I)$ into intermediate activation manifolds $h_{l}$.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Key Architectural Insights: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CNN Fragility:</a:t>
            </a:r>
            <a:r>
              <a:rPr lang="en" sz="1100">
                <a:solidFill>
                  <a:schemeClr val="dk1"/>
                </a:solidFill>
              </a:rPr>
              <a:t> Local receptive fields in VGG16 and ResNet18 are highly susceptible to high-frequency corruptions that destroy feature maps.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ViT Robustness:</a:t>
            </a:r>
            <a:r>
              <a:rPr lang="en" sz="1100">
                <a:solidFill>
                  <a:schemeClr val="dk1"/>
                </a:solidFill>
              </a:rPr>
              <a:t> Vision Transformers act as low-pass filters, using global self-attention to aggregate context and bypass corrupted patches.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Feature Regularization:</a:t>
            </a:r>
            <a:r>
              <a:rPr lang="en" sz="1100">
                <a:solidFill>
                  <a:schemeClr val="dk1"/>
                </a:solidFill>
              </a:rPr>
              <a:t> Intermediate perturbation (Exp 4) acts as a </a:t>
            </a:r>
            <a:r>
              <a:rPr b="1" lang="en" sz="1100">
                <a:solidFill>
                  <a:schemeClr val="dk1"/>
                </a:solidFill>
              </a:rPr>
              <a:t>Lipschitz regularizer</a:t>
            </a:r>
            <a:r>
              <a:rPr lang="en" sz="1100">
                <a:solidFill>
                  <a:schemeClr val="dk1"/>
                </a:solidFill>
              </a:rPr>
              <a:t>, providing robustness gains nearly on par with literal input corruption.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Performance Summary and Latent Space Topology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Performance Analysis:</a:t>
            </a:r>
            <a:r>
              <a:rPr lang="en" sz="1100">
                <a:solidFill>
                  <a:schemeClr val="dk1"/>
                </a:solidFill>
              </a:rPr>
              <a:t> Across all datasets (ImageNet-100, CIFAR-10, F-MNIST), advanced architectural priors significantly outperform simple baselines.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Top Performer: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ViT_B_16</a:t>
            </a:r>
            <a:r>
              <a:rPr lang="en" sz="1100">
                <a:solidFill>
                  <a:schemeClr val="dk1"/>
                </a:solidFill>
              </a:rPr>
              <a:t> consistently achieved the highest accuracy, reaching 96.30% clean and up to 74.20% corrupted accuracy on ImageNet-100.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MLP Baseline Limitations: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The MLP lacks spatial inductive biases, leading to "catastrophic failure" on natural images.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Achieved </a:t>
            </a:r>
            <a:r>
              <a:rPr b="1" lang="en" sz="1100">
                <a:solidFill>
                  <a:schemeClr val="dk1"/>
                </a:solidFill>
              </a:rPr>
              <a:t>sub-20% accuracy</a:t>
            </a:r>
            <a:r>
              <a:rPr lang="en" sz="1100">
                <a:solidFill>
                  <a:schemeClr val="dk1"/>
                </a:solidFill>
              </a:rPr>
              <a:t> on ImageNet-100, with corrupted test results near-random (~2.10%).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Visualizing Decision Boundaries (t-SNE):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Exp 1 (Baseline):</a:t>
            </a:r>
            <a:r>
              <a:rPr lang="en" sz="1100">
                <a:solidFill>
                  <a:schemeClr val="dk1"/>
                </a:solidFill>
              </a:rPr>
              <a:t> Corrupted inputs lead to severe </a:t>
            </a:r>
            <a:r>
              <a:rPr b="1" lang="en" sz="1100">
                <a:solidFill>
                  <a:schemeClr val="dk1"/>
                </a:solidFill>
              </a:rPr>
              <a:t>manifold collapse</a:t>
            </a:r>
            <a:r>
              <a:rPr lang="en" sz="1100">
                <a:solidFill>
                  <a:schemeClr val="dk1"/>
                </a:solidFill>
              </a:rPr>
              <a:t> and overlapping class clusters.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Exp 4 (Perturbation):</a:t>
            </a:r>
            <a:r>
              <a:rPr lang="en" sz="1100">
                <a:solidFill>
                  <a:schemeClr val="dk1"/>
                </a:solidFill>
              </a:rPr>
              <a:t> Successfully preserves class separation, increasing inter-class distance and tightening intra-class variance under corruption.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Guiding Hyperparameters:</a:t>
            </a:r>
            <a:r>
              <a:rPr lang="en" sz="1100">
                <a:solidFill>
                  <a:schemeClr val="dk1"/>
                </a:solidFill>
              </a:rPr>
              <a:t> Using corrupted validation manifolds (Exp 2/3) helps preserve wider decision boundaries and better class separation.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4591250" y="535800"/>
            <a:ext cx="45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